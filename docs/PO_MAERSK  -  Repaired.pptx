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0">
                <a:solidFill>
                  <a:srgbClr val="00243D"/>
                </a:solidFill>
                <a:latin typeface="Maersk Headline"/>
              </a:defRPr>
            </a:pPr>
            <a:r>
              <a:t>Purchase Order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42B0D5"/>
                </a:solidFill>
                <a:latin typeface="Maersk Headline"/>
              </a:defRPr>
            </a:pPr>
            <a:r>
              <a:t>From Legacy SQL to Cloud-Native Microservices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49039"/>
            <a:ext cx="2743200" cy="18288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Maersk Logo, symbol, meaning, history, PNG, brand">
            <a:extLst>
              <a:ext uri="{FF2B5EF4-FFF2-40B4-BE49-F238E27FC236}">
                <a16:creationId xmlns:a16="http://schemas.microsoft.com/office/drawing/2014/main" id="{4FA24EBC-589E-5E12-3D56-61EB72387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616" y="4389120"/>
            <a:ext cx="1405569" cy="6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Project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Legacy system complexity being modernized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Stored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37,300+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Lines of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Maven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28,453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Living 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DRL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Config Keys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65+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Plugins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6656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234K+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Dependency Edges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Modernization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UNDERSTAND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Knowledge Extraction (Claude AI)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Knowledge Graph (234K+ edges)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Living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DI &amp; Call Graph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28,453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Docs Generated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33756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MODERNIZE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0156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Pattern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9184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0156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Variation Resolver (V0/V2)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184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0156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Drools Rules 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9184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0156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Plugin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3756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140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Business Rules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3504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17220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Validation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TEST &amp; VERIFY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2648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SP Parity 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2648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Karate E2E Framework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2648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3620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Data Reconciliation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12648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3620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AI Test Generation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17220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Parity Target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3081528" y="1216152"/>
            <a:ext cx="109728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ight Arrow 68"/>
          <p:cNvSpPr/>
          <p:nvPr/>
        </p:nvSpPr>
        <p:spPr>
          <a:xfrm>
            <a:off x="5916168" y="1216152"/>
            <a:ext cx="109728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Target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6-Layer Microservice Architecture with 13 Maven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81912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HTTP / Web /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2424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EDI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X12 / EDIFACT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02936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RDT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RF Terminals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6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13448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Cron Jobs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6916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828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169164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81912" y="176479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196596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REST Controllers, DTOs, OpenAPI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3208" y="169164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360" y="176479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196596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Kafka Consumers, Event Handlers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33172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468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876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8191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Business Services, Orchestration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5935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Entities, Value Objects,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Data Access, JDBC, jOOQ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297180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3108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SERVICES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8760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81912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1912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Drools 8, Decision Tables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9272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92424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2424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Temporal, Saga Pattern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9784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02936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po-plugin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Java SPI Extensions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0296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13448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po-config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YAML, Feature Flags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61188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3749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INFRA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0876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8191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8191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WCS, Label Printers, 3PL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620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5935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po-v2-adapter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5935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Legacy SP Bridge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3679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po-common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Utils, Constants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42519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43891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TESTING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08760" y="425196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81912" y="432511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po-test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452628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JUnit 5, Mockito, Testcontainers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93208" y="425196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66360" y="432511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po-e2e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52628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Karate E2E, SP Parity Tests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157276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" y="221284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" y="285292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349300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" y="413308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Workflow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9-Step Processing Pipeline with Saga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Resolve</a:t>
            </a:r>
            <a:br/>
            <a: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V0/V2, Region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289304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53312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73352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73352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rPr dirty="0"/>
              <a:t>Pre-</a:t>
            </a:r>
            <a:br>
              <a:rPr dirty="0"/>
            </a:br>
            <a:r>
              <a:rPr dirty="0"/>
              <a:t>Plugins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Client Hooks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31136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95144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15184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15184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864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Business Rules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72968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36976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57016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57016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2696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2696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PO → Receipt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4800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78808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98848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98848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Lottables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Rules Engine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056632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20640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40680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Create Receipt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998464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062472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82512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8192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Reserve Stock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940296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004304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24344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24344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0024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Legacy</a:t>
            </a:r>
            <a:br/>
            <a:r>
              <a:t>Sync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0024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Dual-Write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882128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946136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66176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66176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1856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Notify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91856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Events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0243D"/>
                </a:solidFill>
                <a:latin typeface="Maersk Headline"/>
              </a:defRPr>
            </a:pPr>
            <a:r>
              <a:t>Architecture Flow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2148840"/>
            <a:ext cx="2743200" cy="4114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00400" y="219456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REST 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2377440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0D5"/>
                </a:solidFill>
                <a:latin typeface="Maersk Text"/>
              </a:defRPr>
            </a:pPr>
            <a:r>
              <a:t>po-api • Controllers • DTOs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4840" y="260604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86000" y="2788920"/>
            <a:ext cx="4572000" cy="411480"/>
          </a:xfrm>
          <a:prstGeom prst="roundRect">
            <a:avLst>
              <a:gd name="adj" fmla="val 8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286000" y="28346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Variation Resolver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3017520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V0/V2 Detection  •  Region Context  •  Client Resolution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840" y="324612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342900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0" y="347472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Temporal Workflow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0" y="3657600"/>
            <a:ext cx="5486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0D5"/>
                </a:solidFill>
                <a:latin typeface="Maersk Text"/>
              </a:defRPr>
            </a:pPr>
            <a:r>
              <a:t>Saga Orchestration  •  Compensation  •  Retry 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4840" y="388620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Validation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po-rules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624328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624328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Mapping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24328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rPr dirty="0"/>
              <a:t>po-domain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5736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45736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Persistence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5736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po-repository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67144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67144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Plugins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144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po-plugin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4840" y="4517136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86000" y="4700016"/>
            <a:ext cx="4572000" cy="384048"/>
          </a:xfrm>
          <a:prstGeom prst="roundRect">
            <a:avLst>
              <a:gd name="adj" fmla="val 8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286000" y="4745736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Legacy Bridge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0" y="4901184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po-v2-adapter  •  Dual-Write Support  •  Parity Validation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3240" y="5129784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06440" y="5129784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4400" y="5312664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4400" y="538581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V0 Database (Legacy Unified)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0" y="5312664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029200" y="538581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V2 Database (Current)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SP Parity Testing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365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CRITICAL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API Call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38528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29968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9968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Feature Flag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11296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02736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2736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Dual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Java + SP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84064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75504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Field-by-Field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656832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48272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Maersk Headline"/>
              </a:defRPr>
            </a:pPr>
            <a:r>
              <a:t>✓ Parity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2B0D5"/>
                </a:solidFill>
                <a:latin typeface="Maersk Text"/>
              </a:defRPr>
            </a:pPr>
            <a:r>
              <a:t>Verified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9659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1965960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205740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Dual-Write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Execute both Java service and legacy SP simultaneously, compare results in real-time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19659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1965960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205740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Field-by-Field 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Deep comparison of every output field with configurable tolerance thresholds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6148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761488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Shadow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127248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Run new code alongside legacy without affecting production data or user experience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276148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17720" y="2761488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285292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Reconciliation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127248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Automated drift detection with anomaly alerting and detailed reporting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Parity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32888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32888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32888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Regressions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08576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08576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&lt;50ms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Reconcile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84264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84264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115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4264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SPs 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PO Modernization delivers a future-ready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115 →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SPs →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32888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2888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Parity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08576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Regressions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4264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84264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84264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Scalability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317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2496312"/>
            <a:ext cx="457200" cy="457200"/>
          </a:xfrm>
          <a:prstGeom prst="ellipse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256032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aersk Text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4414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00243D"/>
                </a:solidFill>
                <a:latin typeface="Maersk Headline"/>
              </a:defRPr>
            </a:pPr>
            <a:r>
              <a:t>AI-Powered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770632"/>
            <a:ext cx="6858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28,453 living documents, 234K+ dependency edges, Claude-assisted code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3410712"/>
            <a:ext cx="457200" cy="457200"/>
          </a:xfrm>
          <a:prstGeom prst="ellipse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aersk Text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3558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00243D"/>
                </a:solidFill>
                <a:latin typeface="Maersk Headline"/>
              </a:defRPr>
            </a:pPr>
            <a:r>
              <a:t>Production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685032"/>
            <a:ext cx="6858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Dual-write validation, shadow mode testing, gradual rollout with feature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PO Modernization  •  Maersk WMS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4348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© 2024 A.P. Moller - Maersk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92040"/>
            <a:ext cx="8686800" cy="36576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500</Words>
  <Application>Microsoft Macintosh PowerPoint</Application>
  <PresentationFormat>On-screen Show (16:9)</PresentationFormat>
  <Paragraphs>197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Mishra</cp:lastModifiedBy>
  <cp:revision>3</cp:revision>
  <dcterms:created xsi:type="dcterms:W3CDTF">2013-01-27T09:14:16Z</dcterms:created>
  <dcterms:modified xsi:type="dcterms:W3CDTF">2026-06-08T13:08:29Z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5b24b8-e69b-4583-bfd0-d64b5cee0119_Enabled">
    <vt:lpwstr>true</vt:lpwstr>
  </property>
  <property fmtid="{D5CDD505-2E9C-101B-9397-08002B2CF9AE}" pid="3" name="MSIP_Label_455b24b8-e69b-4583-bfd0-d64b5cee0119_SetDate">
    <vt:lpwstr>2026-06-08T13:04:13Z</vt:lpwstr>
  </property>
  <property fmtid="{D5CDD505-2E9C-101B-9397-08002B2CF9AE}" pid="4" name="MSIP_Label_455b24b8-e69b-4583-bfd0-d64b5cee0119_Method">
    <vt:lpwstr>Privileged</vt:lpwstr>
  </property>
  <property fmtid="{D5CDD505-2E9C-101B-9397-08002B2CF9AE}" pid="5" name="MSIP_Label_455b24b8-e69b-4583-bfd0-d64b5cee0119_Name">
    <vt:lpwstr>Public</vt:lpwstr>
  </property>
  <property fmtid="{D5CDD505-2E9C-101B-9397-08002B2CF9AE}" pid="6" name="MSIP_Label_455b24b8-e69b-4583-bfd0-d64b5cee0119_SiteId">
    <vt:lpwstr>05d75c05-fa1a-42e7-9cf1-eb416c396f2d</vt:lpwstr>
  </property>
  <property fmtid="{D5CDD505-2E9C-101B-9397-08002B2CF9AE}" pid="7" name="MSIP_Label_455b24b8-e69b-4583-bfd0-d64b5cee0119_ActionId">
    <vt:lpwstr>a29d9a06-db87-45c1-ae8a-9ba2351d5526</vt:lpwstr>
  </property>
  <property fmtid="{D5CDD505-2E9C-101B-9397-08002B2CF9AE}" pid="8" name="MSIP_Label_455b24b8-e69b-4583-bfd0-d64b5cee0119_ContentBits">
    <vt:lpwstr>0</vt:lpwstr>
  </property>
  <property fmtid="{D5CDD505-2E9C-101B-9397-08002B2CF9AE}" pid="9" name="MSIP_Label_455b24b8-e69b-4583-bfd0-d64b5cee0119_Tag">
    <vt:lpwstr>50, 0, 1, 1</vt:lpwstr>
  </property>
</Properties>
</file>