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7-Point Star 3"/>
          <p:cNvSpPr/>
          <p:nvPr/>
        </p:nvSpPr>
        <p:spPr>
          <a:xfrm>
            <a:off x="4114800" y="1097280"/>
            <a:ext cx="914400" cy="914400"/>
          </a:xfrm>
          <a:prstGeom prst="star7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0">
                <a:solidFill>
                  <a:srgbClr val="00243D"/>
                </a:solidFill>
                <a:latin typeface="Maersk Headline"/>
              </a:defRPr>
            </a:pPr>
            <a:r>
              <a:t>Purchase Order Modernization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42B0D5"/>
                </a:solidFill>
                <a:latin typeface="Maersk Headline"/>
              </a:defRPr>
            </a:pPr>
            <a:r>
              <a:t>From Legacy SQL to Cloud-Native Microservices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749039"/>
            <a:ext cx="2743200" cy="18288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C757D"/>
                </a:solidFill>
                <a:latin typeface="Maersk Text"/>
              </a:defRPr>
            </a:pPr>
            <a:r>
              <a:t>WMS Engineering  •  CTO Technical Review  •  Q4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>
                <a:solidFill>
                  <a:srgbClr val="00243D"/>
                </a:solidFill>
                <a:latin typeface="Maersk Headline"/>
              </a:defRPr>
            </a:pPr>
            <a:r>
              <a:t>Target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6-Layer Microservice Architecture with 13 Maven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5156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ENTRY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105156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1912" y="1124712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1325880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HTTP / Web / 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105156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2424" y="1124712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EDI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424" y="1325880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X12 / EDIFACT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9784" y="105156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2936" y="1124712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RDT Devices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2936" y="1325880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RF Terminals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6" y="105156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3448" y="1124712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Scheduler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1325880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Cron Jobs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169164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1828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1691640"/>
            <a:ext cx="34747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81912" y="1764792"/>
            <a:ext cx="336499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1912" y="1965960"/>
            <a:ext cx="336499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REST Controllers, DTOs, OpenAPI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93208" y="1691640"/>
            <a:ext cx="34747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1764792"/>
            <a:ext cx="336499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1965960"/>
            <a:ext cx="336499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Kafka Consumers, Event Handlers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33172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0A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46888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CORE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08760" y="233172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81912" y="2404872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81912" y="2606040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Business Services, Orchestration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86200" y="233172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59352" y="2404872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po-domain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9352" y="2606040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Entities, Value Objects, Events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233172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2404872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po-repository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2606040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Data Access, JDBC, jOOQ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297180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3108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SERVICES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08760" y="297180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81912" y="3044952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po-rules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81912" y="3246120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Drools 8, Decision Tables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19272" y="297180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92424" y="3044952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po-workflow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92424" y="3246120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Temporal, Saga Pattern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29784" y="297180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02936" y="3044952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po-plugin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02936" y="3246120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Java SPI Extensions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40296" y="297180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13448" y="3044952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po-config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13448" y="3246120"/>
            <a:ext cx="162763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YAML, Feature Flags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361188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0A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37490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INFRA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508760" y="361188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81912" y="3685032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po-integration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81912" y="3886200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WCS, Label Printers, 3PL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86200" y="361188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59352" y="3685032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po-v2-adapter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59352" y="3886200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Legacy SP Bridge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63640" y="361188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36792" y="3685032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po-common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36792" y="3886200"/>
            <a:ext cx="217627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Utils, Constants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1480" y="425196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43891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TESTING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508760" y="4251960"/>
            <a:ext cx="34747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581912" y="4325112"/>
            <a:ext cx="336499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po-test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81912" y="4526280"/>
            <a:ext cx="336499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JUnit 5, Mockito, Testcontainers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93208" y="4251960"/>
            <a:ext cx="34747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166360" y="4325112"/>
            <a:ext cx="336499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2B0D5"/>
                </a:solidFill>
                <a:latin typeface="Maersk Headline"/>
              </a:defRPr>
            </a:pPr>
            <a:r>
              <a:t>po-e2e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66360" y="4526280"/>
            <a:ext cx="336499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C757D"/>
                </a:solidFill>
                <a:latin typeface="Maersk Text"/>
              </a:defRPr>
            </a:pPr>
            <a:r>
              <a:t>Karate E2E, SP Parity Tests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9808" y="1572768"/>
            <a:ext cx="3657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808" y="2212848"/>
            <a:ext cx="3657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9808" y="2852928"/>
            <a:ext cx="3657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808" y="3493008"/>
            <a:ext cx="3657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9808" y="4133087"/>
            <a:ext cx="3657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>
                <a:solidFill>
                  <a:srgbClr val="00243D"/>
                </a:solidFill>
                <a:latin typeface="Maersk Headline"/>
              </a:defRPr>
            </a:pPr>
            <a:r>
              <a:t>Project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Legacy system complexity being modernized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965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00243D"/>
                </a:solidFill>
                <a:latin typeface="Maersk Headline"/>
              </a:defRPr>
            </a:pPr>
            <a:r>
              <a:t>115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Stored Procedures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0972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0" y="109728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1417320"/>
            <a:ext cx="1965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00243D"/>
                </a:solidFill>
                <a:latin typeface="Maersk Headline"/>
              </a:defRPr>
            </a:pPr>
            <a:r>
              <a:t>37,300+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05740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Lines of 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0972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09728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417320"/>
            <a:ext cx="1965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00243D"/>
                </a:solidFill>
                <a:latin typeface="Maersk Headline"/>
              </a:defRPr>
            </a:pPr>
            <a: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05740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Maven Modules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10972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66560" y="109728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417320"/>
            <a:ext cx="1965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00243D"/>
                </a:solidFill>
                <a:latin typeface="Maersk Headline"/>
              </a:defRPr>
            </a:pPr>
            <a:r>
              <a:t>28,453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05740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Living Docs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65176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65176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71800"/>
            <a:ext cx="1965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00243D"/>
                </a:solidFill>
                <a:latin typeface="Maersk Headline"/>
              </a:defRPr>
            </a:pPr>
            <a:r>
              <a:t>140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61188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DRL Rules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60320" y="265176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0" y="265176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0" y="2971800"/>
            <a:ext cx="1965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00243D"/>
                </a:solidFill>
                <a:latin typeface="Maersk Headline"/>
              </a:defRPr>
            </a:pPr>
            <a:r>
              <a:t>145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61188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Config Keys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265176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63440" y="265176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2971800"/>
            <a:ext cx="1965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00243D"/>
                </a:solidFill>
                <a:latin typeface="Maersk Headline"/>
              </a:defRPr>
            </a:pPr>
            <a:r>
              <a:t>65+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61188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Plugins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0" y="265176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66560" y="265176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2971800"/>
            <a:ext cx="1965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00243D"/>
                </a:solidFill>
                <a:latin typeface="Maersk Headline"/>
              </a:defRPr>
            </a:pPr>
            <a:r>
              <a:t>234K+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61188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Dependency Edges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>
                <a:solidFill>
                  <a:srgbClr val="00243D"/>
                </a:solidFill>
                <a:latin typeface="Maersk Headline"/>
              </a:defRPr>
            </a:pPr>
            <a:r>
              <a:t>Modernization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68680"/>
            <a:ext cx="26974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269748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051560"/>
            <a:ext cx="411480" cy="41148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24712"/>
            <a:ext cx="411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aersk Headline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069848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00243D"/>
                </a:solidFill>
                <a:latin typeface="Maersk Headline"/>
              </a:defRPr>
            </a:pPr>
            <a: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344168"/>
            <a:ext cx="1920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42B0D5"/>
                </a:solidFill>
                <a:latin typeface="Maersk Headline"/>
              </a:defRPr>
            </a:pPr>
            <a:r>
              <a:t>UNDERSTAND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37360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37360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847088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Knowledge Extraction (Claude AI)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67712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267712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377440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Knowledge Graph (234K+ edges)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798064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798064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907792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Living Documentation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328416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328416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438144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DI &amp; Call Graph Mapping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31920"/>
            <a:ext cx="2514600" cy="457200"/>
          </a:xfrm>
          <a:prstGeom prst="roundRect">
            <a:avLst>
              <a:gd name="adj" fmla="val 8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00507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FFFFFF"/>
                </a:solidFill>
                <a:latin typeface="Maersk Headline"/>
              </a:defRPr>
            </a:pPr>
            <a:r>
              <a:t>28,453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06908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  <a:latin typeface="Maersk Text"/>
              </a:defRPr>
            </a:pPr>
            <a:r>
              <a:t>Docs Generated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868680"/>
            <a:ext cx="26974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868680"/>
            <a:ext cx="269748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337560" y="1051560"/>
            <a:ext cx="411480" cy="41148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1124712"/>
            <a:ext cx="411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aersk Headline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1069848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00243D"/>
                </a:solidFill>
                <a:latin typeface="Maersk Headline"/>
              </a:defRPr>
            </a:pPr>
            <a:r>
              <a:t>Migration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1344168"/>
            <a:ext cx="1920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42B0D5"/>
                </a:solidFill>
                <a:latin typeface="Maersk Headline"/>
              </a:defRPr>
            </a:pPr>
            <a:r>
              <a:t>MODERNIZE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0" y="1737360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1737360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01568" y="1847088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Pattern Analysis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2267712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91840" y="2267712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2377440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Variation Resolver (V0/V2)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91840" y="2798064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91840" y="2798064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01568" y="2907792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Drools Rules Engine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3328416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91840" y="3328416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01568" y="3438144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Plugin Architecture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1840" y="3931920"/>
            <a:ext cx="2514600" cy="457200"/>
          </a:xfrm>
          <a:prstGeom prst="roundRect">
            <a:avLst>
              <a:gd name="adj" fmla="val 8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37560" y="400507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FFFFFF"/>
                </a:solidFill>
                <a:latin typeface="Maersk Headline"/>
              </a:defRPr>
            </a:pPr>
            <a:r>
              <a:t>140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406908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  <a:latin typeface="Maersk Text"/>
              </a:defRPr>
            </a:pPr>
            <a:r>
              <a:t>Business Rules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0" y="868680"/>
            <a:ext cx="26974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35040" y="868680"/>
            <a:ext cx="269748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172200" y="1051560"/>
            <a:ext cx="411480" cy="41148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72200" y="1124712"/>
            <a:ext cx="411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aersk Headline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1069848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00243D"/>
                </a:solidFill>
                <a:latin typeface="Maersk Headline"/>
              </a:defRPr>
            </a:pPr>
            <a:r>
              <a:t>Validation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1344168"/>
            <a:ext cx="1920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42B0D5"/>
                </a:solidFill>
                <a:latin typeface="Maersk Headline"/>
              </a:defRPr>
            </a:pPr>
            <a:r>
              <a:t>TEST &amp; VERIFY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26480" y="1737360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26480" y="1737360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36208" y="1847088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SP Parity Testing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26480" y="2267712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26480" y="2267712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36208" y="2377440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Karate E2E Framework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26480" y="2798064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26480" y="2798064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36208" y="2907792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Data Reconciliation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26480" y="3328416"/>
            <a:ext cx="2514600" cy="438912"/>
          </a:xfrm>
          <a:prstGeom prst="roundRect">
            <a:avLst>
              <a:gd name="adj" fmla="val 1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26480" y="3328416"/>
            <a:ext cx="36576" cy="438912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36208" y="3438144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243D"/>
                </a:solidFill>
                <a:latin typeface="Maersk Text"/>
              </a:defRPr>
            </a:pPr>
            <a:r>
              <a:t>AI Test Generation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26480" y="3931920"/>
            <a:ext cx="2514600" cy="457200"/>
          </a:xfrm>
          <a:prstGeom prst="roundRect">
            <a:avLst>
              <a:gd name="adj" fmla="val 8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72200" y="400507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FFFFFF"/>
                </a:solidFill>
                <a:latin typeface="Maersk Headline"/>
              </a:defRPr>
            </a:pPr>
            <a:r>
              <a:t>100%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9480" y="406908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  <a:latin typeface="Maersk Text"/>
              </a:defRPr>
            </a:pPr>
            <a:r>
              <a:t>Parity Target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3081528" y="1216152"/>
            <a:ext cx="109728" cy="164592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ight Arrow 68"/>
          <p:cNvSpPr/>
          <p:nvPr/>
        </p:nvSpPr>
        <p:spPr>
          <a:xfrm>
            <a:off x="5916168" y="1216152"/>
            <a:ext cx="109728" cy="164592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00243D"/>
                </a:solidFill>
                <a:latin typeface="Maersk Headline"/>
              </a:defRPr>
            </a:pPr>
            <a:r>
              <a:t>Workflow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7315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C757D"/>
                </a:solidFill>
                <a:latin typeface="Maersk Text"/>
              </a:defRPr>
            </a:pPr>
            <a:r>
              <a:t>9-Step Processing Pipeline with Saga Orchestration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14400"/>
            <a:ext cx="8686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2B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804672"/>
            <a:ext cx="228600" cy="22860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841248"/>
            <a:ext cx="228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777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243D"/>
                </a:solidFill>
                <a:latin typeface="Maersk Headline"/>
              </a:defRPr>
            </a:pPr>
            <a:r>
              <a:t>Resolve</a:t>
            </a:r>
            <a:br/>
            <a: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4475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C757D"/>
                </a:solidFill>
                <a:latin typeface="Maersk Text"/>
              </a:defRPr>
            </a:pPr>
            <a:r>
              <a:t>V0/V2, Region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289304" y="1234440"/>
            <a:ext cx="54864" cy="137160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53312" y="914400"/>
            <a:ext cx="8686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2B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73352" y="804672"/>
            <a:ext cx="228600" cy="22860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73352" y="841248"/>
            <a:ext cx="228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1078992"/>
            <a:ext cx="777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243D"/>
                </a:solidFill>
                <a:latin typeface="Maersk Headline"/>
              </a:defRPr>
            </a:pPr>
            <a:r>
              <a:t>Pre-</a:t>
            </a:r>
            <a:br/>
            <a:r>
              <a:t>Plugins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144475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C757D"/>
                </a:solidFill>
                <a:latin typeface="Maersk Text"/>
              </a:defRPr>
            </a:pPr>
            <a:r>
              <a:t>Client Hooks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231136" y="1234440"/>
            <a:ext cx="54864" cy="137160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95144" y="914400"/>
            <a:ext cx="8686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2B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615184" y="804672"/>
            <a:ext cx="228600" cy="22860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15184" y="841248"/>
            <a:ext cx="228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0864" y="1078992"/>
            <a:ext cx="777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243D"/>
                </a:solidFill>
                <a:latin typeface="Maersk Headline"/>
              </a:defRPr>
            </a:pPr>
            <a:r>
              <a:t>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0864" y="144475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C757D"/>
                </a:solidFill>
                <a:latin typeface="Maersk Text"/>
              </a:defRPr>
            </a:pPr>
            <a:r>
              <a:t>Business Rules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172968" y="1234440"/>
            <a:ext cx="54864" cy="137160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36976" y="914400"/>
            <a:ext cx="8686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2B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57016" y="804672"/>
            <a:ext cx="228600" cy="22860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57016" y="841248"/>
            <a:ext cx="228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82696" y="1078992"/>
            <a:ext cx="777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243D"/>
                </a:solidFill>
                <a:latin typeface="Maersk Headline"/>
              </a:defRPr>
            </a:pPr>
            <a:r>
              <a:t>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82696" y="144475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C757D"/>
                </a:solidFill>
                <a:latin typeface="Maersk Text"/>
              </a:defRPr>
            </a:pPr>
            <a:r>
              <a:t>PO → Receipt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114800" y="1234440"/>
            <a:ext cx="54864" cy="137160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78808" y="914400"/>
            <a:ext cx="8686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2B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98848" y="804672"/>
            <a:ext cx="228600" cy="22860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8848" y="841248"/>
            <a:ext cx="228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1078992"/>
            <a:ext cx="777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243D"/>
                </a:solidFill>
                <a:latin typeface="Maersk Headline"/>
              </a:defRPr>
            </a:pPr>
            <a:r>
              <a:t>Lottables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24528" y="144475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C757D"/>
                </a:solidFill>
                <a:latin typeface="Maersk Text"/>
              </a:defRPr>
            </a:pPr>
            <a:r>
              <a:t>Rules Engine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056632" y="1234440"/>
            <a:ext cx="54864" cy="137160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120640" y="914400"/>
            <a:ext cx="8686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2B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40680" y="804672"/>
            <a:ext cx="228600" cy="22860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0680" y="841248"/>
            <a:ext cx="228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1078992"/>
            <a:ext cx="777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243D"/>
                </a:solidFill>
                <a:latin typeface="Maersk Headline"/>
              </a:defRPr>
            </a:pPr>
            <a:r>
              <a:t>Persist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144475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C757D"/>
                </a:solidFill>
                <a:latin typeface="Maersk Text"/>
              </a:defRPr>
            </a:pPr>
            <a:r>
              <a:t>Create Receipt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5998464" y="1234440"/>
            <a:ext cx="54864" cy="137160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062472" y="914400"/>
            <a:ext cx="8686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2B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82512" y="804672"/>
            <a:ext cx="228600" cy="22860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2512" y="841248"/>
            <a:ext cx="228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08192" y="1078992"/>
            <a:ext cx="777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243D"/>
                </a:solidFill>
                <a:latin typeface="Maersk Headline"/>
              </a:defRPr>
            </a:pPr>
            <a:r>
              <a:t>Inventory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08192" y="144475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C757D"/>
                </a:solidFill>
                <a:latin typeface="Maersk Text"/>
              </a:defRPr>
            </a:pPr>
            <a:r>
              <a:t>Reserve Stock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940296" y="1234440"/>
            <a:ext cx="54864" cy="137160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004304" y="914400"/>
            <a:ext cx="8686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2B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324344" y="804672"/>
            <a:ext cx="228600" cy="22860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24344" y="841248"/>
            <a:ext cx="228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50024" y="1078992"/>
            <a:ext cx="777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243D"/>
                </a:solidFill>
                <a:latin typeface="Maersk Headline"/>
              </a:defRPr>
            </a:pPr>
            <a:r>
              <a:t>Legacy</a:t>
            </a:r>
            <a:br/>
            <a:r>
              <a:t>Sync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50024" y="144475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C757D"/>
                </a:solidFill>
                <a:latin typeface="Maersk Text"/>
              </a:defRPr>
            </a:pPr>
            <a:r>
              <a:t>Dual-Write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7882128" y="1234440"/>
            <a:ext cx="54864" cy="137160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946136" y="914400"/>
            <a:ext cx="8686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2B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66176" y="804672"/>
            <a:ext cx="228600" cy="228600"/>
          </a:xfrm>
          <a:prstGeom prst="ellipse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66176" y="841248"/>
            <a:ext cx="228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91856" y="1078992"/>
            <a:ext cx="777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243D"/>
                </a:solidFill>
                <a:latin typeface="Maersk Headline"/>
              </a:defRPr>
            </a:pPr>
            <a:r>
              <a:t>Notify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91856" y="144475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C757D"/>
                </a:solidFill>
                <a:latin typeface="Maersk Text"/>
              </a:defRPr>
            </a:pPr>
            <a:r>
              <a:t>Events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1828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0243D"/>
                </a:solidFill>
                <a:latin typeface="Maersk Headline"/>
              </a:defRPr>
            </a:pPr>
            <a:r>
              <a:t>Architecture Flow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00400" y="2148840"/>
            <a:ext cx="2743200" cy="411480"/>
          </a:xfrm>
          <a:prstGeom prst="roundRect">
            <a:avLst>
              <a:gd name="adj" fmla="val 8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0" y="2194560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aersk Headline"/>
              </a:defRPr>
            </a:pPr>
            <a:r>
              <a:t>REST API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0" y="2377440"/>
            <a:ext cx="2743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2B0D5"/>
                </a:solidFill>
                <a:latin typeface="Maersk Text"/>
              </a:defRPr>
            </a:pPr>
            <a:r>
              <a:t>po-api • Controllers • DTOs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34840" y="2606040"/>
            <a:ext cx="2743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286000" y="2788920"/>
            <a:ext cx="4572000" cy="411480"/>
          </a:xfrm>
          <a:prstGeom prst="roundRect">
            <a:avLst>
              <a:gd name="adj" fmla="val 8000"/>
            </a:avLst>
          </a:prstGeom>
          <a:solidFill>
            <a:srgbClr val="0A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86000" y="283464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aersk Headline"/>
              </a:defRPr>
            </a:pPr>
            <a:r>
              <a:t>Variation Resolver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0" y="3017520"/>
            <a:ext cx="4572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Maersk Text"/>
              </a:defRPr>
            </a:pPr>
            <a:r>
              <a:t>V0/V2 Detection  •  Region Context  •  Client Resolution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34840" y="3246120"/>
            <a:ext cx="2743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828800" y="3429000"/>
            <a:ext cx="5486400" cy="411480"/>
          </a:xfrm>
          <a:prstGeom prst="roundRect">
            <a:avLst>
              <a:gd name="adj" fmla="val 8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28800" y="3474720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Maersk Headline"/>
              </a:defRPr>
            </a:pPr>
            <a:r>
              <a:t>Temporal Workflow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28800" y="3657600"/>
            <a:ext cx="5486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2B0D5"/>
                </a:solidFill>
                <a:latin typeface="Maersk Text"/>
              </a:defRPr>
            </a:pPr>
            <a:r>
              <a:t>Saga Orchestration  •  Compensation  •  Retry Logic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34840" y="3886200"/>
            <a:ext cx="2743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2920" y="4087368"/>
            <a:ext cx="2011680" cy="384048"/>
          </a:xfrm>
          <a:prstGeom prst="roundRect">
            <a:avLst>
              <a:gd name="adj" fmla="val 8000"/>
            </a:avLst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2920" y="4133088"/>
            <a:ext cx="20116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Validation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4288536"/>
            <a:ext cx="20116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Maersk Text"/>
              </a:defRPr>
            </a:pPr>
            <a:r>
              <a:t>po-rules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624328" y="4087368"/>
            <a:ext cx="2011680" cy="384048"/>
          </a:xfrm>
          <a:prstGeom prst="roundRect">
            <a:avLst>
              <a:gd name="adj" fmla="val 8000"/>
            </a:avLst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624328" y="4133088"/>
            <a:ext cx="20116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Mapping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24328" y="4288536"/>
            <a:ext cx="20116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Maersk Text"/>
              </a:defRPr>
            </a:pPr>
            <a:r>
              <a:t>po-domain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745736" y="4087368"/>
            <a:ext cx="2011680" cy="384048"/>
          </a:xfrm>
          <a:prstGeom prst="roundRect">
            <a:avLst>
              <a:gd name="adj" fmla="val 8000"/>
            </a:avLst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45736" y="4133088"/>
            <a:ext cx="20116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Persistence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45736" y="4288536"/>
            <a:ext cx="20116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Maersk Text"/>
              </a:defRPr>
            </a:pPr>
            <a:r>
              <a:t>po-repository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867144" y="4087368"/>
            <a:ext cx="2011680" cy="384048"/>
          </a:xfrm>
          <a:prstGeom prst="roundRect">
            <a:avLst>
              <a:gd name="adj" fmla="val 8000"/>
            </a:avLst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867144" y="4133088"/>
            <a:ext cx="20116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Plugins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67144" y="4288536"/>
            <a:ext cx="20116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Maersk Text"/>
              </a:defRPr>
            </a:pPr>
            <a:r>
              <a:t>po-plugin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34840" y="4517136"/>
            <a:ext cx="2743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286000" y="4700016"/>
            <a:ext cx="4572000" cy="384048"/>
          </a:xfrm>
          <a:prstGeom prst="roundRect">
            <a:avLst>
              <a:gd name="adj" fmla="val 8000"/>
            </a:avLst>
          </a:prstGeom>
          <a:solidFill>
            <a:srgbClr val="0A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286000" y="4745736"/>
            <a:ext cx="4572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Maersk Headline"/>
              </a:defRPr>
            </a:pPr>
            <a:r>
              <a:t>Legacy Bridge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286000" y="4901184"/>
            <a:ext cx="4572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Maersk Text"/>
              </a:defRPr>
            </a:pPr>
            <a:r>
              <a:t>po-v2-adapter  •  Dual-Write Support  •  Parity Validation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63240" y="5129784"/>
            <a:ext cx="2743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806440" y="5129784"/>
            <a:ext cx="2743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2B0D5"/>
                </a:solidFill>
                <a:latin typeface="Maersk Text"/>
              </a:defRPr>
            </a:pPr>
            <a:r>
              <a:t>↓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14400" y="5312664"/>
            <a:ext cx="3200400" cy="347472"/>
          </a:xfrm>
          <a:prstGeom prst="roundRect">
            <a:avLst>
              <a:gd name="adj" fmla="val 8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14400" y="5385816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V0 Database (Legacy Unified)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029200" y="5312664"/>
            <a:ext cx="3200400" cy="347472"/>
          </a:xfrm>
          <a:prstGeom prst="roundRect">
            <a:avLst>
              <a:gd name="adj" fmla="val 8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0" y="5385816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V2 Database (Current)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>
                <a:solidFill>
                  <a:srgbClr val="00243D"/>
                </a:solidFill>
                <a:latin typeface="Maersk Headline"/>
              </a:defRPr>
            </a:pPr>
            <a:r>
              <a:t>SP Parity Testing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320040"/>
            <a:ext cx="1371600" cy="320040"/>
          </a:xfrm>
          <a:prstGeom prst="roundRect">
            <a:avLst>
              <a:gd name="adj" fmla="val 8000"/>
            </a:avLst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3657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Maersk Headline"/>
              </a:defRPr>
            </a:pPr>
            <a:r>
              <a:t>CRITICAL PHASE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1463040" cy="8686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00243D"/>
                </a:solidFill>
                <a:latin typeface="Maersk Headline"/>
              </a:defRPr>
            </a:pPr>
            <a:r>
              <a:t>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API Call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38528" y="1261872"/>
            <a:ext cx="91440" cy="164592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29968" y="914400"/>
            <a:ext cx="1463040" cy="8686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9968" y="109728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00243D"/>
                </a:solidFill>
                <a:latin typeface="Maersk Headline"/>
              </a:defRPr>
            </a:pPr>
            <a:r>
              <a:t>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141732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Feature Flag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11296" y="1261872"/>
            <a:ext cx="91440" cy="164592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02736" y="914400"/>
            <a:ext cx="1463040" cy="8686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2736" y="109728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00243D"/>
                </a:solidFill>
                <a:latin typeface="Maersk Headline"/>
              </a:defRPr>
            </a:pPr>
            <a:r>
              <a:t>Dual 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141732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Java + SP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084064" y="1261872"/>
            <a:ext cx="91440" cy="164592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75504" y="914400"/>
            <a:ext cx="1463040" cy="8686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75504" y="109728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00243D"/>
                </a:solidFill>
                <a:latin typeface="Maersk Headline"/>
              </a:defRPr>
            </a:pPr>
            <a:r>
              <a:t>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141732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Field-by-Field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656832" y="1261872"/>
            <a:ext cx="91440" cy="164592"/>
          </a:xfrm>
          <a:prstGeom prst="rightArrow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48272" y="914400"/>
            <a:ext cx="1463040" cy="868680"/>
          </a:xfrm>
          <a:prstGeom prst="roundRect">
            <a:avLst>
              <a:gd name="adj" fmla="val 8000"/>
            </a:avLst>
          </a:prstGeom>
          <a:solidFill>
            <a:srgbClr val="00243D"/>
          </a:solidFill>
          <a:ln w="12700">
            <a:solidFill>
              <a:srgbClr val="42B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109728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FFFFFF"/>
                </a:solidFill>
                <a:latin typeface="Maersk Headline"/>
              </a:defRPr>
            </a:pPr>
            <a:r>
              <a:t>✓ Parity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141732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2B0D5"/>
                </a:solidFill>
                <a:latin typeface="Maersk Text"/>
              </a:defRPr>
            </a:pPr>
            <a:r>
              <a:t>Verified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1965960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1965960"/>
            <a:ext cx="45720" cy="68580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2057400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243D"/>
                </a:solidFill>
                <a:latin typeface="Maersk Headline"/>
              </a:defRPr>
            </a:pPr>
            <a:r>
              <a:t>Dual-Write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2331720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Execute both Java service and legacy SP simultaneously, compare results in real-time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1965960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17720" y="1965960"/>
            <a:ext cx="45720" cy="68580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2057400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243D"/>
                </a:solidFill>
                <a:latin typeface="Maersk Headline"/>
              </a:defRPr>
            </a:pPr>
            <a:r>
              <a:t>Field-by-Field Compare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2331720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Deep comparison of every output field with configurable tolerance thresholds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761488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2761488"/>
            <a:ext cx="45720" cy="68580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2852928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243D"/>
                </a:solidFill>
                <a:latin typeface="Maersk Headline"/>
              </a:defRPr>
            </a:pPr>
            <a:r>
              <a:t>Shadow Mode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127248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Run new code alongside legacy without affecting production data or user experience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17720" y="2761488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17720" y="2761488"/>
            <a:ext cx="45720" cy="68580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2852928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243D"/>
                </a:solidFill>
                <a:latin typeface="Maersk Headline"/>
              </a:defRPr>
            </a:pPr>
            <a:r>
              <a:t>Reconciliation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3127248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Automated drift detection with anomaly alerting and detailed reporting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61188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70332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00243D"/>
                </a:solidFill>
                <a:latin typeface="Maersk Headline"/>
              </a:defRPr>
            </a:pPr>
            <a:r>
              <a:t>100%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050792"/>
            <a:ext cx="1965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Parity Target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32888" y="361188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32888" y="370332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00243D"/>
                </a:solidFill>
                <a:latin typeface="Maersk Headline"/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32888" y="4050792"/>
            <a:ext cx="1965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Regressions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08576" y="361188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08576" y="370332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00243D"/>
                </a:solidFill>
                <a:latin typeface="Maersk Headline"/>
              </a:defRPr>
            </a:pPr>
            <a:r>
              <a:t>&lt;50ms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08576" y="4050792"/>
            <a:ext cx="1965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Reconcile Time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84264" y="361188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84264" y="370332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00243D"/>
                </a:solidFill>
                <a:latin typeface="Maersk Headline"/>
              </a:defRPr>
            </a:pPr>
            <a:r>
              <a:t>115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84264" y="4050792"/>
            <a:ext cx="1965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SPs Covered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>
                <a:solidFill>
                  <a:srgbClr val="00243D"/>
                </a:solidFill>
                <a:latin typeface="Maersk Headline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C757D"/>
                </a:solidFill>
                <a:latin typeface="Maersk Text"/>
              </a:defRPr>
            </a:pPr>
            <a:r>
              <a:t>PO Modernization delivers a future-ready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00243D"/>
                </a:solidFill>
                <a:latin typeface="Maersk Headline"/>
              </a:defRPr>
            </a:pPr>
            <a:r>
              <a:t>115 →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965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C757D"/>
                </a:solidFill>
                <a:latin typeface="Maersk Text"/>
              </a:defRPr>
            </a:pPr>
            <a:r>
              <a:t>SPs → Modules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2888" y="105156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32888" y="105156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32888" y="1234440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00243D"/>
                </a:solidFill>
                <a:latin typeface="Maersk Headline"/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2888" y="1719072"/>
            <a:ext cx="1965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C757D"/>
                </a:solidFill>
                <a:latin typeface="Maersk Text"/>
              </a:defRPr>
            </a:pPr>
            <a:r>
              <a:t>Parity Tested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08576" y="105156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08576" y="105156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1234440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00243D"/>
                </a:solidFill>
                <a:latin typeface="Maersk Headline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1719072"/>
            <a:ext cx="1965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C757D"/>
                </a:solidFill>
                <a:latin typeface="Maersk Text"/>
              </a:defRPr>
            </a:pPr>
            <a:r>
              <a:t>Regressions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84264" y="105156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84264" y="1051560"/>
            <a:ext cx="1965960" cy="457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84264" y="1234440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00243D"/>
                </a:solidFill>
                <a:latin typeface="Maersk Headline"/>
              </a:defRPr>
            </a:pPr>
            <a:r>
              <a:t>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4264" y="1719072"/>
            <a:ext cx="1965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C757D"/>
                </a:solidFill>
                <a:latin typeface="Maersk Text"/>
              </a:defRPr>
            </a:pPr>
            <a:r>
              <a:t>Scalability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331720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" y="2496312"/>
            <a:ext cx="457200" cy="457200"/>
          </a:xfrm>
          <a:prstGeom prst="ellipse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56032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Maersk Text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2441448"/>
            <a:ext cx="6858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00243D"/>
                </a:solidFill>
                <a:latin typeface="Maersk Headline"/>
              </a:defRPr>
            </a:pPr>
            <a:r>
              <a:t>AI-Powered Knowledge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2770632"/>
            <a:ext cx="6858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C757D"/>
                </a:solidFill>
                <a:latin typeface="Maersk Text"/>
              </a:defRPr>
            </a:pPr>
            <a:r>
              <a:t>28,453 living documents, 234K+ dependency edges, Claude-assisted code generation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246120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4360" y="3410712"/>
            <a:ext cx="457200" cy="457200"/>
          </a:xfrm>
          <a:prstGeom prst="ellipse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47472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Maersk Text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3355848"/>
            <a:ext cx="6858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00243D"/>
                </a:solidFill>
                <a:latin typeface="Maersk Headline"/>
              </a:defRPr>
            </a:pPr>
            <a:r>
              <a:t>Production Ready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3685032"/>
            <a:ext cx="6858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C757D"/>
                </a:solidFill>
                <a:latin typeface="Maersk Text"/>
              </a:defRPr>
            </a:pPr>
            <a:r>
              <a:t>Dual-write validation, shadow mode testing, gradual rollout with feature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4348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PO Modernization  •  Maersk WMS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43484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C757D"/>
                </a:solidFill>
                <a:latin typeface="Maersk Text"/>
              </a:defRPr>
            </a:pPr>
            <a:r>
              <a:t>© 2024 A.P. Moller - Maersk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4892040"/>
            <a:ext cx="8686800" cy="36576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